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mRNA folds back on itself; the fold determines stability and translatability.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picked a problem we can already solve, to validate the method, not to beat classical.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GPT proposes circuits, which are run, measured, and scored, feeding back into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qubit per stem drastically cuts qubit count versus one per base pair.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slide: online generation of training circuits beats offline sampling decisively.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methods on a 44-base test sequence; the 27-qubit run matches ViennaRNA exactly.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pseudoknots and multi-objective design; thank the judges.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hosen20/mRNA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3549997"/>
            <a:ext cx="609600" cy="57150"/>
          </a:xfrm>
          <a:prstGeom prst="rect">
            <a:avLst/>
          </a:prstGeom>
          <a:solidFill>
            <a:srgbClr val="0365AF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4026247"/>
            <a:ext cx="14730383" cy="73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59"/>
              </a:lnSpc>
              <a:buNone/>
            </a:pPr>
            <a:r>
              <a:rPr lang="en-US" sz="4800" b="1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Enhancing VQE/QAOA scalability using a GPT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47750" y="5032028"/>
            <a:ext cx="1199199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5A58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RNA secondary structure prediction · WISER 2026 · Moderna challenge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47750" y="6384578"/>
            <a:ext cx="214264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Hussein Shiri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problem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047750" y="1981200"/>
            <a:ext cx="1275397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mRNA folds back on itself. The shape it settles into decides how stable the molecule is, and how well a cell can read it.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47750" y="3406080"/>
            <a:ext cx="16192500" cy="2647950"/>
          </a:xfrm>
          <a:prstGeom prst="rect">
            <a:avLst/>
          </a:prstGeom>
          <a:ln w="9525">
            <a:solidFill>
              <a:srgbClr val="CFCE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66875" y="3949005"/>
            <a:ext cx="164496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75" kern="0" dirty="0">
                <a:solidFill>
                  <a:srgbClr val="1816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GGAGCAAAACUUGUCGAUUGAGAACAAAAUACAGAAUUUGCUUG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666875" y="4539555"/>
            <a:ext cx="164496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75" kern="0" dirty="0">
                <a:solidFill>
                  <a:srgbClr val="0365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.(((((((..((((...(((....)))...))))..))))))).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666875" y="5130105"/>
            <a:ext cx="164496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75" kern="0" dirty="0">
                <a:solidFill>
                  <a:srgbClr val="5A5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-7.90 kcal/mol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47750" y="6396930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58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 and ) mark a base pair, . marks a free, unpaired base.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3880545"/>
            <a:ext cx="167640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4200" b="1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Classical methods already solve this exactly, in </a:t>
            </a:r>
            <a:pPr algn="l" indent="0" marL="0">
              <a:lnSpc>
                <a:spcPct val="107692"/>
              </a:lnSpc>
              <a:buNone/>
            </a:pPr>
            <a:r>
              <a:rPr lang="en-US" sz="4200" b="1" dirty="0">
                <a:solidFill>
                  <a:srgbClr val="0365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O(L³)</a:t>
            </a:r>
            <a:pPr algn="l" indent="0" marL="0">
              <a:lnSpc>
                <a:spcPct val="107692"/>
              </a:lnSpc>
              <a:buNone/>
            </a:pPr>
            <a:r>
              <a:rPr lang="en-US" sz="4200" b="1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.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047750" y="5080695"/>
            <a:ext cx="12753975" cy="1363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5A58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 chose this problem because we already know the right answer. That lets us check whether the quantum method actually works, before trusting it on a problem no one can check.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idea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1047750" y="3886200"/>
            <a:ext cx="3333750" cy="885825"/>
          </a:xfrm>
          <a:prstGeom prst="rect">
            <a:avLst/>
          </a:prstGeom>
          <a:ln w="9525">
            <a:solidFill>
              <a:srgbClr val="1816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1119" y="4181475"/>
            <a:ext cx="27670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GPT writes a circuit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4381500" y="4324350"/>
            <a:ext cx="952500" cy="9525"/>
          </a:xfrm>
          <a:prstGeom prst="rect">
            <a:avLst/>
          </a:prstGeom>
          <a:solidFill>
            <a:srgbClr val="CFCEC9"/>
          </a:solidFill>
          <a:ln/>
        </p:spPr>
      </p:sp>
      <p:sp>
        <p:nvSpPr>
          <p:cNvPr id="6" name="Text 4"/>
          <p:cNvSpPr/>
          <p:nvPr/>
        </p:nvSpPr>
        <p:spPr>
          <a:xfrm>
            <a:off x="5067300" y="4219575"/>
            <a:ext cx="3429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A58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334000" y="3886200"/>
            <a:ext cx="3333750" cy="885825"/>
          </a:xfrm>
          <a:prstGeom prst="rect">
            <a:avLst/>
          </a:prstGeom>
          <a:ln w="9525">
            <a:solidFill>
              <a:srgbClr val="CFCE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17369" y="4181475"/>
            <a:ext cx="27670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 run it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667750" y="4324350"/>
            <a:ext cx="952500" cy="9525"/>
          </a:xfrm>
          <a:prstGeom prst="rect">
            <a:avLst/>
          </a:prstGeom>
          <a:solidFill>
            <a:srgbClr val="CFCEC9"/>
          </a:solidFill>
          <a:ln/>
        </p:spPr>
      </p:sp>
      <p:sp>
        <p:nvSpPr>
          <p:cNvPr id="10" name="Text 8"/>
          <p:cNvSpPr/>
          <p:nvPr/>
        </p:nvSpPr>
        <p:spPr>
          <a:xfrm>
            <a:off x="9353550" y="4219575"/>
            <a:ext cx="3429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A58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620250" y="3886200"/>
            <a:ext cx="3333750" cy="885825"/>
          </a:xfrm>
          <a:prstGeom prst="rect">
            <a:avLst/>
          </a:prstGeom>
          <a:ln w="9525">
            <a:solidFill>
              <a:srgbClr val="CFCE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03619" y="4181475"/>
            <a:ext cx="27670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 measure a structure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2954000" y="4324350"/>
            <a:ext cx="952500" cy="9525"/>
          </a:xfrm>
          <a:prstGeom prst="rect">
            <a:avLst/>
          </a:prstGeom>
          <a:solidFill>
            <a:srgbClr val="CFCEC9"/>
          </a:solidFill>
          <a:ln/>
        </p:spPr>
      </p:sp>
      <p:sp>
        <p:nvSpPr>
          <p:cNvPr id="14" name="Text 12"/>
          <p:cNvSpPr/>
          <p:nvPr/>
        </p:nvSpPr>
        <p:spPr>
          <a:xfrm>
            <a:off x="13639800" y="4219575"/>
            <a:ext cx="3429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A58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3906500" y="3886200"/>
            <a:ext cx="3333750" cy="885825"/>
          </a:xfrm>
          <a:prstGeom prst="rect">
            <a:avLst/>
          </a:prstGeom>
          <a:ln w="9525">
            <a:solidFill>
              <a:srgbClr val="CFCE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189869" y="4181475"/>
            <a:ext cx="27670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 score it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14400" y="5438775"/>
            <a:ext cx="29337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365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feeds back ↑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3714750" y="5572125"/>
            <a:ext cx="1841450" cy="19050"/>
          </a:xfrm>
          <a:prstGeom prst="rect">
            <a:avLst/>
          </a:prstGeom>
          <a:solidFill>
            <a:srgbClr val="0365AF"/>
          </a:solidFill>
          <a:ln/>
        </p:spPr>
      </p:sp>
      <p:sp>
        <p:nvSpPr>
          <p:cNvPr id="19" name="Text 17"/>
          <p:cNvSpPr/>
          <p:nvPr/>
        </p:nvSpPr>
        <p:spPr>
          <a:xfrm>
            <a:off x="1047750" y="6591300"/>
            <a:ext cx="293762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0365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800,000</a:t>
            </a:r>
            <a:endParaRPr lang="en-US" sz="4500" dirty="0"/>
          </a:p>
        </p:txBody>
      </p:sp>
      <p:sp>
        <p:nvSpPr>
          <p:cNvPr id="20" name="Text 18"/>
          <p:cNvSpPr/>
          <p:nvPr/>
        </p:nvSpPr>
        <p:spPr>
          <a:xfrm>
            <a:off x="1047750" y="7324725"/>
            <a:ext cx="29376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58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parameters in the model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4480322" y="6591300"/>
            <a:ext cx="381561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</a:t>
            </a:r>
            <a:endParaRPr lang="en-US" sz="4500" dirty="0"/>
          </a:p>
        </p:txBody>
      </p:sp>
      <p:sp>
        <p:nvSpPr>
          <p:cNvPr id="22" name="Text 20"/>
          <p:cNvSpPr/>
          <p:nvPr/>
        </p:nvSpPr>
        <p:spPr>
          <a:xfrm>
            <a:off x="4480322" y="7324725"/>
            <a:ext cx="381561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58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trained parameters in the circuit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986088"/>
            <a:ext cx="178117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qubit per stem, not per base pair.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1047750" y="4395788"/>
            <a:ext cx="7620000" cy="28575"/>
          </a:xfrm>
          <a:prstGeom prst="rect">
            <a:avLst/>
          </a:prstGeom>
          <a:solidFill>
            <a:srgbClr val="CFCEC9"/>
          </a:solidFill>
          <a:ln/>
        </p:spPr>
      </p:sp>
      <p:sp>
        <p:nvSpPr>
          <p:cNvPr id="4" name="Text 2"/>
          <p:cNvSpPr/>
          <p:nvPr/>
        </p:nvSpPr>
        <p:spPr>
          <a:xfrm>
            <a:off x="1047750" y="4805363"/>
            <a:ext cx="83820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5A58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100+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047750" y="5834063"/>
            <a:ext cx="8382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qubits needed, one per base pair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620250" y="4395788"/>
            <a:ext cx="7620000" cy="28575"/>
          </a:xfrm>
          <a:prstGeom prst="rect">
            <a:avLst/>
          </a:prstGeom>
          <a:solidFill>
            <a:srgbClr val="0365AF"/>
          </a:solidFill>
          <a:ln/>
        </p:spPr>
      </p:sp>
      <p:sp>
        <p:nvSpPr>
          <p:cNvPr id="7" name="Text 5"/>
          <p:cNvSpPr/>
          <p:nvPr/>
        </p:nvSpPr>
        <p:spPr>
          <a:xfrm>
            <a:off x="9620250" y="4805363"/>
            <a:ext cx="83820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365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22–27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9620250" y="5834063"/>
            <a:ext cx="8382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qubits needed, one per stem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47750" y="6757988"/>
            <a:ext cx="14668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58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stem is a run of consecutive base pairs, like a zipper — it collapses into a single decision: paired or not.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Offline versus online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1047750" y="1981200"/>
            <a:ext cx="7810500" cy="6543675"/>
          </a:xfrm>
          <a:prstGeom prst="rect">
            <a:avLst/>
          </a:prstGeom>
          <a:ln w="9525">
            <a:solidFill>
              <a:srgbClr val="CFCE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14475" y="2409825"/>
            <a:ext cx="756475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A58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Offline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514475" y="3114675"/>
            <a:ext cx="75647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58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circuits come from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514475" y="3409950"/>
            <a:ext cx="756475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rolling dice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14475" y="4067175"/>
            <a:ext cx="75647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58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dataset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514475" y="4362450"/>
            <a:ext cx="756475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512 circuits, frozen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514475" y="5019675"/>
            <a:ext cx="75647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58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prediction loss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514475" y="5314950"/>
            <a:ext cx="756475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816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1707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14475" y="5981700"/>
            <a:ext cx="75647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58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circuits reaching the best answer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514475" y="6276975"/>
            <a:ext cx="756475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816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0–1.6%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429750" y="1981200"/>
            <a:ext cx="7810500" cy="6543675"/>
          </a:xfrm>
          <a:prstGeom prst="rect">
            <a:avLst/>
          </a:prstGeom>
          <a:ln w="19050">
            <a:solidFill>
              <a:srgbClr val="0365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06000" y="2419350"/>
            <a:ext cx="75438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365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Online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906000" y="3124200"/>
            <a:ext cx="75438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58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circuits come from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906000" y="3419475"/>
            <a:ext cx="75438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model itself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906000" y="4076700"/>
            <a:ext cx="75438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58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dataset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906000" y="4371975"/>
            <a:ext cx="75438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rolling window, refreshed each epoch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906000" y="5029200"/>
            <a:ext cx="75438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58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prediction loss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906000" y="5324475"/>
            <a:ext cx="75438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816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319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906000" y="5991225"/>
            <a:ext cx="75438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58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circuits reaching the best answer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906000" y="6286500"/>
            <a:ext cx="75438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365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238125" y="9096375"/>
            <a:ext cx="17811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Same model, same budget. The difference is whether it gets to try.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Results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047750" y="1600200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58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44-base test sequence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1047750" y="2981325"/>
            <a:ext cx="16192500" cy="19050"/>
          </a:xfrm>
          <a:prstGeom prst="rect">
            <a:avLst/>
          </a:prstGeom>
          <a:solidFill>
            <a:srgbClr val="181611"/>
          </a:solidFill>
          <a:ln/>
        </p:spPr>
      </p:sp>
      <p:sp>
        <p:nvSpPr>
          <p:cNvPr id="5" name="Text 3"/>
          <p:cNvSpPr/>
          <p:nvPr/>
        </p:nvSpPr>
        <p:spPr>
          <a:xfrm>
            <a:off x="1162050" y="2524125"/>
            <a:ext cx="726282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Method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8279685" y="2524125"/>
            <a:ext cx="51135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Energy (kcal/mol)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545592" y="2524125"/>
            <a:ext cx="17139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Gap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5411896" y="2524125"/>
            <a:ext cx="171405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F1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047750" y="3998416"/>
            <a:ext cx="16192500" cy="9525"/>
          </a:xfrm>
          <a:prstGeom prst="rect">
            <a:avLst/>
          </a:prstGeom>
          <a:solidFill>
            <a:srgbClr val="CFCEC9"/>
          </a:solidFill>
          <a:ln/>
        </p:spPr>
      </p:sp>
      <p:sp>
        <p:nvSpPr>
          <p:cNvPr id="10" name="Text 8"/>
          <p:cNvSpPr/>
          <p:nvPr/>
        </p:nvSpPr>
        <p:spPr>
          <a:xfrm>
            <a:off x="1162050" y="3190875"/>
            <a:ext cx="7262827" cy="664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ViennaRNA (target)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8279685" y="3190875"/>
            <a:ext cx="5113507" cy="664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816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-7.90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545592" y="3190875"/>
            <a:ext cx="1713905" cy="664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816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5411896" y="3190875"/>
            <a:ext cx="1714054" cy="664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816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047750" y="4007941"/>
            <a:ext cx="16192500" cy="948333"/>
          </a:xfrm>
          <a:prstGeom prst="rect">
            <a:avLst/>
          </a:prstGeom>
          <a:solidFill>
            <a:srgbClr val="DDED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047750" y="4946749"/>
            <a:ext cx="16192500" cy="9525"/>
          </a:xfrm>
          <a:prstGeom prst="rect">
            <a:avLst/>
          </a:prstGeom>
          <a:solidFill>
            <a:srgbClr val="CFCEC9"/>
          </a:solidFill>
          <a:ln/>
        </p:spPr>
      </p:sp>
      <p:sp>
        <p:nvSpPr>
          <p:cNvPr id="16" name="Text 14"/>
          <p:cNvSpPr/>
          <p:nvPr/>
        </p:nvSpPr>
        <p:spPr>
          <a:xfrm>
            <a:off x="1162050" y="4198441"/>
            <a:ext cx="7262827" cy="605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GQE, ours — 27 qubits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8279685" y="4198441"/>
            <a:ext cx="5113507" cy="605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0365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-7.90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3545592" y="4198441"/>
            <a:ext cx="1713905" cy="605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0365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5411896" y="4198441"/>
            <a:ext cx="1714054" cy="605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0365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047750" y="5947767"/>
            <a:ext cx="16192500" cy="9525"/>
          </a:xfrm>
          <a:prstGeom prst="rect">
            <a:avLst/>
          </a:prstGeom>
          <a:solidFill>
            <a:srgbClr val="CFCEC9"/>
          </a:solidFill>
          <a:ln/>
        </p:spPr>
      </p:sp>
      <p:sp>
        <p:nvSpPr>
          <p:cNvPr id="21" name="Text 19"/>
          <p:cNvSpPr/>
          <p:nvPr/>
        </p:nvSpPr>
        <p:spPr>
          <a:xfrm>
            <a:off x="1162050" y="5146774"/>
            <a:ext cx="7262827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GQE, ours — 22 qubits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8279685" y="5146774"/>
            <a:ext cx="5113507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816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-7.00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3545592" y="5146774"/>
            <a:ext cx="1713905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816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0.90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5411896" y="5146774"/>
            <a:ext cx="1714054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816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0.79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047750" y="6948785"/>
            <a:ext cx="16192500" cy="9525"/>
          </a:xfrm>
          <a:prstGeom prst="rect">
            <a:avLst/>
          </a:prstGeom>
          <a:solidFill>
            <a:srgbClr val="CFCEC9"/>
          </a:solidFill>
          <a:ln/>
        </p:spPr>
      </p:sp>
      <p:sp>
        <p:nvSpPr>
          <p:cNvPr id="26" name="Text 24"/>
          <p:cNvSpPr/>
          <p:nvPr/>
        </p:nvSpPr>
        <p:spPr>
          <a:xfrm>
            <a:off x="1162050" y="6147792"/>
            <a:ext cx="7262827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Simulated annealing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8279685" y="6147792"/>
            <a:ext cx="5113507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816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-7.90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3545592" y="6147792"/>
            <a:ext cx="1713905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816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5411896" y="6147792"/>
            <a:ext cx="1714054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816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047750" y="7897118"/>
            <a:ext cx="16192500" cy="9525"/>
          </a:xfrm>
          <a:prstGeom prst="rect">
            <a:avLst/>
          </a:prstGeom>
          <a:solidFill>
            <a:srgbClr val="CFCEC9"/>
          </a:solidFill>
          <a:ln/>
        </p:spPr>
      </p:sp>
      <p:sp>
        <p:nvSpPr>
          <p:cNvPr id="31" name="Text 29"/>
          <p:cNvSpPr/>
          <p:nvPr/>
        </p:nvSpPr>
        <p:spPr>
          <a:xfrm>
            <a:off x="1162050" y="7148810"/>
            <a:ext cx="7262827" cy="605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58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Classical GPT, no quantum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8167702" y="7148810"/>
            <a:ext cx="8958248" cy="605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5A58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did not find a valid structure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162050" y="8097143"/>
            <a:ext cx="7262827" cy="599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58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Random search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8167702" y="8097143"/>
            <a:ext cx="8958248" cy="5991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5A58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did not find a valid structure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047750" y="9229725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A585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 27 qubits the stem encoding is exact, so the gap to ViennaRNA is zero.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Where this is worth doing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1047750" y="1981200"/>
            <a:ext cx="7810500" cy="28575"/>
          </a:xfrm>
          <a:prstGeom prst="rect">
            <a:avLst/>
          </a:prstGeom>
          <a:solidFill>
            <a:srgbClr val="0365AF"/>
          </a:solidFill>
          <a:ln/>
        </p:spPr>
      </p:sp>
      <p:sp>
        <p:nvSpPr>
          <p:cNvPr id="4" name="Text 2"/>
          <p:cNvSpPr/>
          <p:nvPr/>
        </p:nvSpPr>
        <p:spPr>
          <a:xfrm>
            <a:off x="1047750" y="2352675"/>
            <a:ext cx="85915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Pseudoknots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47750" y="2981325"/>
            <a:ext cx="804481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Helices that cross. Classical dynamic programming cannot handle them.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47750" y="4025205"/>
            <a:ext cx="859155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b="1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 our formulation, it is a single flag.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429750" y="1981200"/>
            <a:ext cx="7810500" cy="28575"/>
          </a:xfrm>
          <a:prstGeom prst="rect">
            <a:avLst/>
          </a:prstGeom>
          <a:solidFill>
            <a:srgbClr val="0365AF"/>
          </a:solidFill>
          <a:ln/>
        </p:spPr>
      </p:sp>
      <p:sp>
        <p:nvSpPr>
          <p:cNvPr id="8" name="Text 6"/>
          <p:cNvSpPr/>
          <p:nvPr/>
        </p:nvSpPr>
        <p:spPr>
          <a:xfrm>
            <a:off x="9429750" y="2352675"/>
            <a:ext cx="85915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Multi-objective mRNA design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429750" y="2981325"/>
            <a:ext cx="804481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Folding energy plus codon usage and GC content. Extra goals break the classical recursion.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429750" y="4025205"/>
            <a:ext cx="859155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b="1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 us, they are just more terms.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47750" y="8905875"/>
            <a:ext cx="2934027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816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3810952" y="9144000"/>
            <a:ext cx="377222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u="sng" dirty="0">
                <a:solidFill>
                  <a:srgbClr val="0365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</a:t>
            </a:r>
            <a:pPr algn="l" indent="0" marL="0">
              <a:buNone/>
            </a:pPr>
            <a:r>
              <a:rPr lang="en-US" sz="1950" b="1" dirty="0">
                <a:solidFill>
                  <a:srgbClr val="5A5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hosen20/mRNA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2026-08-06T05:39:40Z</dcterms:created>
  <dcterms:modified xsi:type="dcterms:W3CDTF">2026-08-06T05:39:40Z</dcterms:modified>
</cp:coreProperties>
</file>